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2E8F0"/>
                </a:solidFill>
              </a:defRPr>
            </a:pPr>
            <a:r>
              <a:t>Kubernetes Container Escape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B82F6"/>
                </a:solidFill>
              </a:defRPr>
            </a:pPr>
            <a:r>
              <a:t>From Spring4Shell RCE to Cluster Takeover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4747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Full attack chain on AWS EKS with automated detection by Cortex XDR</a:t>
            </a:r>
            <a:br/>
            <a:r>
              <a:t>and incident response via Cortex Playbooks + AWS Lambda containment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5303520"/>
            <a:ext cx="6400800" cy="548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0" y="53492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Palo Alto Networks  |  Cortex Cloud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2E8F0"/>
                </a:solidFill>
              </a:defRPr>
            </a:pPr>
            <a:r>
              <a:t>Architecture Overview</a:t>
            </a:r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105156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F4444"/>
                </a:solidFill>
              </a:defRPr>
            </a:pPr>
            <a:r>
              <a:t>Attack Chain — 3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47472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</a:defRPr>
            </a:pPr>
            <a:r>
              <a:t>STEP 1: Spring4Shell 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</a:defRPr>
            </a:pPr>
            <a:r>
              <a:t>CVE-2022-22965 (CVSS 9.8)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E2E8F0"/>
                </a:solidFill>
              </a:defRPr>
            </a:pPr>
          </a:p>
          <a:p>
            <a:pPr algn="l">
              <a:spcBef>
                <a:spcPts val="400"/>
              </a:spcBef>
              <a:defRPr sz="1200" b="0">
                <a:solidFill>
                  <a:srgbClr val="94A3B8"/>
                </a:solidFill>
              </a:defRPr>
            </a:pPr>
            <a:r>
              <a:t>1. Exploit ClassLoader via Spring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94A3B8"/>
                </a:solidFill>
              </a:defRPr>
            </a:pPr>
            <a:r>
              <a:t>   parameter binding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94A3B8"/>
                </a:solidFill>
              </a:defRPr>
            </a:pPr>
            <a:r>
              <a:t>2. Manipulate Tomcat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94A3B8"/>
                </a:solidFill>
              </a:defRPr>
            </a:pPr>
            <a:r>
              <a:t>   AccessLogValve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94A3B8"/>
                </a:solidFill>
              </a:defRPr>
            </a:pPr>
            <a:r>
              <a:t>3. Write JSP webshell to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94A3B8"/>
                </a:solidFill>
              </a:defRPr>
            </a:pPr>
            <a:r>
              <a:t>   webapps/app/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94A3B8"/>
                </a:solidFill>
              </a:defRPr>
            </a:pPr>
            <a:r>
              <a:t>4. Verify RCE: id command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E2E8F0"/>
                </a:solidFill>
              </a:defRPr>
            </a:pPr>
          </a:p>
          <a:p>
            <a:pPr algn="l">
              <a:spcBef>
                <a:spcPts val="400"/>
              </a:spcBef>
              <a:defRPr sz="1300" b="1">
                <a:solidFill>
                  <a:srgbClr val="E2E8F0"/>
                </a:solidFill>
              </a:defRPr>
            </a:pPr>
            <a:r>
              <a:t>Result: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EF4444"/>
                </a:solidFill>
              </a:defRPr>
            </a:pPr>
            <a:r>
              <a:t>Remote Code Execution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EF4444"/>
                </a:solidFill>
              </a:defRPr>
            </a:pPr>
            <a:r>
              <a:t>on the container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188720"/>
            <a:ext cx="347472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2801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</a:defRPr>
            </a:pPr>
            <a:r>
              <a:t>STEP 2: Container Escape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82880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</a:defRPr>
            </a:pPr>
            <a:r>
              <a:t>Privileged + hostPID + hostPath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E2E8F0"/>
                </a:solidFill>
              </a:defRPr>
            </a:pPr>
          </a:p>
          <a:p>
            <a:pPr algn="l">
              <a:spcBef>
                <a:spcPts val="400"/>
              </a:spcBef>
              <a:defRPr sz="1200" b="0">
                <a:solidFill>
                  <a:srgbClr val="94A3B8"/>
                </a:solidFill>
              </a:defRPr>
            </a:pPr>
            <a:r>
              <a:t>1. nsenter -t 1 -m -u -i -n -p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94A3B8"/>
                </a:solidFill>
              </a:defRPr>
            </a:pPr>
            <a:r>
              <a:t>   → escape to host namespace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94A3B8"/>
                </a:solidFill>
              </a:defRPr>
            </a:pPr>
            <a:r>
              <a:t>2. Read /etc/shadow, /etc/passwd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94A3B8"/>
                </a:solidFill>
              </a:defRPr>
            </a:pPr>
            <a:r>
              <a:t>3. Access host filesystem via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94A3B8"/>
                </a:solidFill>
              </a:defRPr>
            </a:pPr>
            <a:r>
              <a:t>   /proc/1/root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94A3B8"/>
                </a:solidFill>
              </a:defRPr>
            </a:pPr>
            <a:r>
              <a:t>4. IMDS 169.254.169.254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94A3B8"/>
                </a:solidFill>
              </a:defRPr>
            </a:pPr>
            <a:r>
              <a:t>   → steal AWS credentials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E2E8F0"/>
                </a:solidFill>
              </a:defRPr>
            </a:pPr>
          </a:p>
          <a:p>
            <a:pPr algn="l">
              <a:spcBef>
                <a:spcPts val="400"/>
              </a:spcBef>
              <a:defRPr sz="1300" b="1">
                <a:solidFill>
                  <a:srgbClr val="E2E8F0"/>
                </a:solidFill>
              </a:defRPr>
            </a:pPr>
            <a:r>
              <a:t>Result: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EF4444"/>
                </a:solidFill>
              </a:defRPr>
            </a:pPr>
            <a:r>
              <a:t>Full node access +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EF4444"/>
                </a:solidFill>
              </a:defRPr>
            </a:pPr>
            <a:r>
              <a:t>AWS IAM credentials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188720"/>
            <a:ext cx="347472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2801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</a:defRPr>
            </a:pPr>
            <a:r>
              <a:t>STEP 3: Cluster Takeover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182880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</a:defRPr>
            </a:pPr>
            <a:r>
              <a:t>SA cluster-admin token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E2E8F0"/>
                </a:solidFill>
              </a:defRPr>
            </a:pPr>
          </a:p>
          <a:p>
            <a:pPr algn="l">
              <a:spcBef>
                <a:spcPts val="400"/>
              </a:spcBef>
              <a:defRPr sz="1200" b="0">
                <a:solidFill>
                  <a:srgbClr val="94A3B8"/>
                </a:solidFill>
              </a:defRPr>
            </a:pPr>
            <a:r>
              <a:t>1. Steal ServiceAccount token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94A3B8"/>
                </a:solidFill>
              </a:defRPr>
            </a:pPr>
            <a:r>
              <a:t>   from /var/run/secrets/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94A3B8"/>
                </a:solidFill>
              </a:defRPr>
            </a:pPr>
            <a:r>
              <a:t>2. List all K8s secrets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94A3B8"/>
                </a:solidFill>
              </a:defRPr>
            </a:pPr>
            <a:r>
              <a:t>   (all namespaces)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94A3B8"/>
                </a:solidFill>
              </a:defRPr>
            </a:pPr>
            <a:r>
              <a:t>3. Extract AWS credentials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94A3B8"/>
                </a:solidFill>
              </a:defRPr>
            </a:pPr>
            <a:r>
              <a:t>   from secrets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94A3B8"/>
                </a:solidFill>
              </a:defRPr>
            </a:pPr>
            <a:r>
              <a:t>4. Full cluster control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E2E8F0"/>
                </a:solidFill>
              </a:defRPr>
            </a:pPr>
          </a:p>
          <a:p>
            <a:pPr algn="l">
              <a:spcBef>
                <a:spcPts val="400"/>
              </a:spcBef>
              <a:defRPr sz="1300" b="1">
                <a:solidFill>
                  <a:srgbClr val="E2E8F0"/>
                </a:solidFill>
              </a:defRPr>
            </a:pPr>
            <a:r>
              <a:t>Result: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EF4444"/>
                </a:solidFill>
              </a:defRPr>
            </a:pPr>
            <a:r>
              <a:t>Complete cluster +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EF4444"/>
                </a:solidFill>
              </a:defRPr>
            </a:pPr>
            <a:r>
              <a:t>AWS compromise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977639" y="3474720"/>
            <a:ext cx="320040" cy="320040"/>
          </a:xfrm>
          <a:prstGeom prst="rightArrow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7818120" y="3474720"/>
            <a:ext cx="320040" cy="320040"/>
          </a:xfrm>
          <a:prstGeom prst="rightArrow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97316"/>
                </a:solidFill>
              </a:defRPr>
            </a:pPr>
            <a:r>
              <a:t>Pod Misconfigurations Exploited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97280"/>
            <a:ext cx="11338560" cy="457200"/>
          </a:xfrm>
          <a:prstGeom prst="roundRect">
            <a:avLst/>
          </a:prstGeom>
          <a:solidFill>
            <a:srgbClr val="1E3A5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</a:defRPr>
            </a:pPr>
            <a:r>
              <a:t>Misconfiguration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1430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</a:defRPr>
            </a:pPr>
            <a:r>
              <a:t>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143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</a:defRPr>
            </a:pPr>
            <a:r>
              <a:t>Remediation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691640"/>
            <a:ext cx="11338560" cy="548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42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</a:defRPr>
            </a:pPr>
            <a:r>
              <a:t>privileged: true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74244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Full host kernel access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742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</a:defRPr>
            </a:pPr>
            <a:r>
              <a:t>allowPrivilegeEscalation: false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331720"/>
            <a:ext cx="11338560" cy="548640"/>
          </a:xfrm>
          <a:prstGeom prst="roundRect">
            <a:avLst/>
          </a:prstGeom>
          <a:solidFill>
            <a:srgbClr val="15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3825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</a:defRPr>
            </a:pPr>
            <a:r>
              <a:t>hostPID: true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3825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Host process visibility, nsenter escape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382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</a:defRPr>
            </a:pPr>
            <a:r>
              <a:t>Disable hostPID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971800"/>
            <a:ext cx="11338560" cy="548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022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</a:defRPr>
            </a:pPr>
            <a:r>
              <a:t>hostNetwork: true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0226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Node network access, IMDS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022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</a:defRPr>
            </a:pPr>
            <a:r>
              <a:t>Disable, IMDSv2 hop limit=1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611879"/>
            <a:ext cx="11338560" cy="548640"/>
          </a:xfrm>
          <a:prstGeom prst="roundRect">
            <a:avLst/>
          </a:prstGeom>
          <a:solidFill>
            <a:srgbClr val="15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662679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</a:defRPr>
            </a:pPr>
            <a:r>
              <a:t>hostPath: 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662679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Read/write entire host filesystem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366267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</a:defRPr>
            </a:pPr>
            <a:r>
              <a:t>PVCs, restrict via PSA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4251960"/>
            <a:ext cx="11338560" cy="548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302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</a:defRPr>
            </a:pPr>
            <a:r>
              <a:t>SA cluster-admin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430276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Full K8s API control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4302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</a:defRPr>
            </a:pPr>
            <a:r>
              <a:t>Least privilege RBAC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4892040"/>
            <a:ext cx="11338560" cy="548640"/>
          </a:xfrm>
          <a:prstGeom prst="roundRect">
            <a:avLst/>
          </a:prstGeom>
          <a:solidFill>
            <a:srgbClr val="15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9428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97316"/>
                </a:solidFill>
              </a:defRPr>
            </a:pPr>
            <a:r>
              <a:t>No Pod Security Standards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494284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All misconfigs allowed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49428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</a:defRPr>
            </a:pPr>
            <a:r>
              <a:t>Enforce restricted PSA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5532119"/>
            <a:ext cx="11338560" cy="548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582919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97316"/>
                </a:solidFill>
              </a:defRPr>
            </a:pPr>
            <a:r>
              <a:t>No Network Policies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5582919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Unrestricted pod communication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558291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</a:defRPr>
            </a:pPr>
            <a:r>
              <a:t>Implement NetworkPolicies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18CF8"/>
                </a:solidFill>
              </a:defRPr>
            </a:pPr>
            <a:r>
              <a:t>MITRE ATT&amp;CK Kill Chain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2011680" cy="548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22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</a:defRPr>
            </a:pPr>
            <a:r>
              <a:t>Initial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1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T1190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173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2E8F0"/>
                </a:solidFill>
              </a:defRPr>
            </a:pPr>
            <a:r>
              <a:t>Exploit Public-Facing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173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Spring4Shell CVE-2022-22965</a:t>
            </a:r>
          </a:p>
        </p:txBody>
      </p:sp>
      <p:sp>
        <p:nvSpPr>
          <p:cNvPr id="8" name="Down Arrow 7"/>
          <p:cNvSpPr/>
          <p:nvPr/>
        </p:nvSpPr>
        <p:spPr>
          <a:xfrm>
            <a:off x="1371600" y="1645920"/>
            <a:ext cx="182880" cy="109728"/>
          </a:xfrm>
          <a:prstGeom prst="down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755648"/>
            <a:ext cx="2011680" cy="548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7810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</a:defRPr>
            </a:pPr>
            <a:r>
              <a:t>Execution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096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T1059.004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183184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2E8F0"/>
                </a:solidFill>
              </a:defRPr>
            </a:pPr>
            <a:r>
              <a:t>Unix Shell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183184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Webshell command execution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1371600" y="2304288"/>
            <a:ext cx="182880" cy="109728"/>
          </a:xfrm>
          <a:prstGeom prst="down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" y="2414015"/>
            <a:ext cx="2011680" cy="548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439415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18CF8"/>
                </a:solidFill>
              </a:defRPr>
            </a:pPr>
            <a:r>
              <a:t>Persistence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668015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T1505.003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2490215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2E8F0"/>
                </a:solidFill>
              </a:defRPr>
            </a:pPr>
            <a:r>
              <a:t>Web Shell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490215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JSP webshell deployed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1371600" y="2962655"/>
            <a:ext cx="182880" cy="109728"/>
          </a:xfrm>
          <a:prstGeom prst="downArrow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7200" y="3072384"/>
            <a:ext cx="2011680" cy="548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09778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4444"/>
                </a:solidFill>
              </a:defRPr>
            </a:pPr>
            <a:r>
              <a:t>Privilege Escalation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32638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T1611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3148584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2E8F0"/>
                </a:solidFill>
              </a:defRPr>
            </a:pPr>
            <a:r>
              <a:t>Escape to Host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314858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nsenter + privileged pod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1371600" y="3621024"/>
            <a:ext cx="182880" cy="109728"/>
          </a:xfrm>
          <a:prstGeom prst="downArrow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57200" y="3730752"/>
            <a:ext cx="2011680" cy="548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7561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97316"/>
                </a:solidFill>
              </a:defRPr>
            </a:pPr>
            <a:r>
              <a:t>Credential Access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9847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T1552.007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51760" y="380695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2E8F0"/>
                </a:solidFill>
              </a:defRPr>
            </a:pPr>
            <a:r>
              <a:t>Container API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380695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SA token theft, IMDS</a:t>
            </a:r>
          </a:p>
        </p:txBody>
      </p:sp>
      <p:sp>
        <p:nvSpPr>
          <p:cNvPr id="32" name="Down Arrow 31"/>
          <p:cNvSpPr/>
          <p:nvPr/>
        </p:nvSpPr>
        <p:spPr>
          <a:xfrm>
            <a:off x="1371600" y="4279392"/>
            <a:ext cx="182880" cy="109728"/>
          </a:xfrm>
          <a:prstGeom prst="down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7200" y="4389120"/>
            <a:ext cx="2011680" cy="548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4414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97316"/>
                </a:solidFill>
              </a:defRPr>
            </a:pPr>
            <a:r>
              <a:t>Discovery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4643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T1613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51760" y="4465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2E8F0"/>
                </a:solidFill>
              </a:defRPr>
            </a:pPr>
            <a:r>
              <a:t>Container Discovery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4465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K8s resource enumeration</a:t>
            </a:r>
          </a:p>
        </p:txBody>
      </p:sp>
      <p:sp>
        <p:nvSpPr>
          <p:cNvPr id="38" name="Down Arrow 37"/>
          <p:cNvSpPr/>
          <p:nvPr/>
        </p:nvSpPr>
        <p:spPr>
          <a:xfrm>
            <a:off x="1371600" y="4937760"/>
            <a:ext cx="182880" cy="109728"/>
          </a:xfrm>
          <a:prstGeom prst="down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57200" y="5047488"/>
            <a:ext cx="2011680" cy="548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50728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4444"/>
                </a:solidFill>
              </a:defRPr>
            </a:pPr>
            <a:r>
              <a:t>Lateral Movement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3014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T1550.001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51760" y="51236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2E8F0"/>
                </a:solidFill>
              </a:defRPr>
            </a:pPr>
            <a:r>
              <a:t>Application Access Token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0" y="512368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Cluster-admin token reuse</a:t>
            </a:r>
          </a:p>
        </p:txBody>
      </p:sp>
      <p:sp>
        <p:nvSpPr>
          <p:cNvPr id="44" name="Down Arrow 43"/>
          <p:cNvSpPr/>
          <p:nvPr/>
        </p:nvSpPr>
        <p:spPr>
          <a:xfrm>
            <a:off x="1371600" y="5596128"/>
            <a:ext cx="182880" cy="109728"/>
          </a:xfrm>
          <a:prstGeom prst="downArrow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57200" y="5705856"/>
            <a:ext cx="2011680" cy="548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573125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4444"/>
                </a:solidFill>
              </a:defRPr>
            </a:pPr>
            <a:r>
              <a:t>Collection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595985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T1530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51760" y="5782056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2E8F0"/>
                </a:solidFill>
              </a:defRPr>
            </a:pPr>
            <a:r>
              <a:t>Data from Cloud Storage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3600" y="5782056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AWS credentials exfiltration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C55E"/>
                </a:solidFill>
              </a:defRPr>
            </a:pPr>
            <a:r>
              <a:t>Cortex Automated Response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97280"/>
            <a:ext cx="3657600" cy="5303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</a:defRPr>
            </a:pPr>
            <a:r>
              <a:t>Containment Playbook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10 tasks — auto/manual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1. Triage (IOC extraction)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2. Collect Evidence (Lambda)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3. Severity Gate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   Critical+Spring4Shell = auto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4. Network Isolation (deny-all)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5. Revoke RBAC (cluster-admin)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6. Scale Down (replicas=0)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7. Cordon Node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8. Kill Pods (force delete)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9. Verify Containment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097280"/>
            <a:ext cx="3657600" cy="5303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188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18CF8"/>
                </a:solidFill>
              </a:defRPr>
            </a:pPr>
            <a:r>
              <a:t>Forensic Analysis Playbook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6002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9 tasks — 5 XQL auto-exec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01168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1. Triage (IOC extraction)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2. CVE + MITRE + XQL generation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3. XQL: Causality Chain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4. XQL: File Operations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5. XQL: Network Connections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6. XQL: Container Escape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7. XQL: Credential Access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8. Live Evidence (Lambda)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097280"/>
            <a:ext cx="3657600" cy="5303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188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</a:defRPr>
            </a:pPr>
            <a:r>
              <a:t>Search Similar Events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6002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8 tasks — 3 XQL auto-exec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01168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1. Triage (IOC extraction)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2. Generate Hunt Queries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3. XQL: Webshell Hunt (all nodes)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4. XQL: Escape Hunt (all nodes)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5. XQL: IMDS Theft Hunt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6. Analyst Review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7/8. Escalate or Close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18CF8"/>
                </a:solidFill>
              </a:defRPr>
            </a:pPr>
            <a:r>
              <a:t>Cortex Automation Scripts (4)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05840"/>
            <a:ext cx="11338560" cy="1234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56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</a:defRPr>
            </a:pPr>
            <a:r>
              <a:t>ExtractK8sContainerEscapeIOCs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1056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2E8F0"/>
                </a:solidFill>
              </a:defRPr>
            </a:pPr>
            <a:r>
              <a:t>Triage &amp; IOC Extraction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1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Analyzes XDR issue fields to extract IOCs (container ID, namespace, node FQDN, process SHA256). Determines severity (Critical/High/Medium/Low). Detects Spring4Shell + webshell patterns.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154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Output: K8sEscape.* context keys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377440"/>
            <a:ext cx="11338560" cy="1234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428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</a:defRPr>
            </a:pPr>
            <a:r>
              <a:t>InvokeK8sContainmentLambda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2428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2E8F0"/>
                </a:solidFill>
              </a:defRPr>
            </a:pPr>
            <a:r>
              <a:t>Lambda Containment (SigV4)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82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Invokes AWS Lambda from Cortex XSIAM (GCP). Pure SigV4 signing (no boto3). STS AssumeRole + Lambda Invoke. 7 containment actions.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87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Output: K8sContainment.* context keys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749039"/>
            <a:ext cx="11338560" cy="1234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7998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18CF8"/>
                </a:solidFill>
              </a:defRPr>
            </a:pPr>
            <a:r>
              <a:t>K8sForensicAnalysis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379983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2E8F0"/>
                </a:solidFill>
              </a:defRPr>
            </a:pPr>
            <a:r>
              <a:t>CVE / MITRE / XQL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05383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CVE enrichment (Spring4Shell CVSS 9.8). MITRE ATT&amp;CK mapping (9 techniques). Generates 5 XQL forensic queries for auto-execution.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358639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Output: K8sForensic.* context keys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5120640"/>
            <a:ext cx="11338560" cy="1234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171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</a:defRPr>
            </a:pPr>
            <a:r>
              <a:t>K8sSearchSimilarEvents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5171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2E8F0"/>
                </a:solidFill>
              </a:defRPr>
            </a:pPr>
            <a:r>
              <a:t>Cross-Tenant Threat Hunt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425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Generates targeted + broad XQL queries. Lateral movement detection, blast radius assessment, webshell/escape/IMDS hunts.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7302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Output: K8sSimilar.* context keys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97316"/>
                </a:solidFill>
              </a:defRPr>
            </a:pPr>
            <a:r>
              <a:t>Lambda Containment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AWS Lambda authenticates to EKS via STS presigned URL (x-k8s-aws-id)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200400" cy="548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646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</a:defRPr>
            </a:pPr>
            <a:r>
              <a:t>collect_evidence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1564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</a:defRPr>
            </a:pPr>
            <a:r>
              <a:t>Pod details, logs, events, RBAC audit, node status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48840"/>
            <a:ext cx="3200400" cy="548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50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</a:defRPr>
            </a:pPr>
            <a:r>
              <a:t>network_isolate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250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</a:defRPr>
            </a:pPr>
            <a:r>
              <a:t>Apply deny-all NetworkPolicy in namespace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834640"/>
            <a:ext cx="3200400" cy="548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936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</a:defRPr>
            </a:pPr>
            <a:r>
              <a:t>revoke_rbac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936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</a:defRPr>
            </a:pPr>
            <a:r>
              <a:t>Delete cluster-admin ClusterRoleBinding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520440"/>
            <a:ext cx="3200400" cy="548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6220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</a:defRPr>
            </a:pPr>
            <a:r>
              <a:t>scale_down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622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</a:defRPr>
            </a:pPr>
            <a:r>
              <a:t>Scale deployment to 0 replicas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206240"/>
            <a:ext cx="3200400" cy="548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3078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</a:defRPr>
            </a:pPr>
            <a:r>
              <a:t>cordon_node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43078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</a:defRPr>
            </a:pPr>
            <a:r>
              <a:t>Mark node as unschedulable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892040"/>
            <a:ext cx="3200400" cy="548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9936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</a:defRPr>
            </a:pPr>
            <a:r>
              <a:t>delete_pod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4993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</a:defRPr>
            </a:pPr>
            <a:r>
              <a:t>Force delete all pods in namespace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577840"/>
            <a:ext cx="3200400" cy="548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679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</a:defRPr>
            </a:pPr>
            <a:r>
              <a:t>full_containment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5679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</a:defRPr>
            </a:pPr>
            <a:r>
              <a:t>Execute all actions in sequence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B82F6"/>
                </a:solidFill>
              </a:defRPr>
            </a:pPr>
            <a:r>
              <a:t>IAM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97280"/>
            <a:ext cx="566928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</a:defRPr>
            </a:pPr>
            <a:r>
              <a:t>Dashboard (permanent credentials)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</a:defRPr>
            </a:pPr>
            <a:r>
              <a:t>dashboard-user (Access Key)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94A3B8"/>
                </a:solidFill>
              </a:defRPr>
            </a:pPr>
            <a:r>
              <a:t>    ↓ AssumeRole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E2E8F0"/>
                </a:solidFill>
              </a:defRPr>
            </a:pPr>
            <a:r>
              <a:t>dashboard-operator (scoped role)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94A3B8"/>
                </a:solidFill>
              </a:defRPr>
            </a:pPr>
            <a:r>
              <a:t>    EKS, ECR, Lambda, IAM, VPC, Logs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97280"/>
            <a:ext cx="566928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18CF8"/>
                </a:solidFill>
              </a:defRPr>
            </a:pPr>
            <a:r>
              <a:t>Cortex Playbook (permanent credentials)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</a:defRPr>
            </a:pPr>
            <a:r>
              <a:t>cortex-playbook-user (Access Key)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94A3B8"/>
                </a:solidFill>
              </a:defRPr>
            </a:pPr>
            <a:r>
              <a:t>    ↓ AssumeRole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E2E8F0"/>
                </a:solidFill>
              </a:defRPr>
            </a:pPr>
            <a:r>
              <a:t>lambda-invoker (scoped role)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94A3B8"/>
                </a:solidFill>
              </a:defRPr>
            </a:pPr>
            <a:r>
              <a:t>    lambda:InvokeFunction 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3840480"/>
            <a:ext cx="1161288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931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4A3B8"/>
                </a:solidFill>
              </a:defRPr>
            </a:pPr>
            <a:r>
              <a:t>Bootstrap (one-time, admin credentials)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3891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Admin credentials → terraform apply (terraform-infra/ + terraform-lambda/)</a:t>
            </a:r>
            <a:br/>
            <a:r>
              <a:t>Creates all IAM users, roles, EKS, Lambda. Admin credentials no longer needed after setup.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C55E"/>
                </a:solidFill>
              </a:defRPr>
            </a:pPr>
            <a:r>
              <a:t>Demo Flow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0584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664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2E8F0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031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</a:defRPr>
            </a:pPr>
            <a:r>
              <a:t>Configure AWS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056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Enter admin credentials in dashboard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55448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0528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2E8F0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579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</a:defRPr>
            </a:pPr>
            <a:r>
              <a:t>Deploy Infrastructure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605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terraform apply → VPC, EKS, ECR, IAM (~15 min)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10312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15392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2E8F0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128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</a:defRPr>
            </a:pPr>
            <a:r>
              <a:t>Switch to Dashboard User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153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Permanent credentials from terraform output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2651760"/>
            <a:ext cx="411480" cy="4114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70256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2E8F0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677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6B6D4"/>
                </a:solidFill>
              </a:defRPr>
            </a:pPr>
            <a:r>
              <a:t>Build &amp; Push Image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7025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Docker buildx (linux/amd64) + push to ECR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" y="3200400"/>
            <a:ext cx="411480" cy="4114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25120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2E8F0"/>
                </a:solidFill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225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6B6D4"/>
                </a:solidFill>
              </a:defRPr>
            </a:pPr>
            <a:r>
              <a:t>Deploy App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251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K8s manifests: privileged pod + LoadBalancer</a:t>
            </a:r>
          </a:p>
        </p:txBody>
      </p:sp>
      <p:sp>
        <p:nvSpPr>
          <p:cNvPr id="23" name="Oval 22"/>
          <p:cNvSpPr/>
          <p:nvPr/>
        </p:nvSpPr>
        <p:spPr>
          <a:xfrm>
            <a:off x="457200" y="3749039"/>
            <a:ext cx="411480" cy="41148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799839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2E8F0"/>
                </a:solidFill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37744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</a:defRPr>
            </a:pPr>
            <a:r>
              <a:t>Run Attack Chain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3799839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Step 1: RCE → Step 2: Escape → Step 3: Takeover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" y="4297679"/>
            <a:ext cx="411480" cy="411480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348479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2E8F0"/>
                </a:solidFill>
              </a:defRPr>
            </a:pPr>
            <a: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3230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18CF8"/>
                </a:solidFill>
              </a:defRPr>
            </a:pPr>
            <a:r>
              <a:t>Deploy Cortex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4348479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Push 4 scripts + 3 playbooks + Lambda</a:t>
            </a:r>
          </a:p>
        </p:txBody>
      </p:sp>
      <p:sp>
        <p:nvSpPr>
          <p:cNvPr id="31" name="Oval 30"/>
          <p:cNvSpPr/>
          <p:nvPr/>
        </p:nvSpPr>
        <p:spPr>
          <a:xfrm>
            <a:off x="457200" y="4846320"/>
            <a:ext cx="411480" cy="41148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89712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2E8F0"/>
                </a:solidFill>
              </a:defRPr>
            </a:pPr>
            <a:r>
              <a:t>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4871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C55E"/>
                </a:solidFill>
              </a:defRPr>
            </a:pPr>
            <a:r>
              <a:t>Observe Detection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4897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XDR creates issue → triggers playbook</a:t>
            </a:r>
          </a:p>
        </p:txBody>
      </p:sp>
      <p:sp>
        <p:nvSpPr>
          <p:cNvPr id="35" name="Oval 34"/>
          <p:cNvSpPr/>
          <p:nvPr/>
        </p:nvSpPr>
        <p:spPr>
          <a:xfrm>
            <a:off x="457200" y="5394960"/>
            <a:ext cx="411480" cy="41148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44576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2E8F0"/>
                </a:solidFill>
              </a:defRPr>
            </a:pPr>
            <a:r>
              <a:t>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5420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C55E"/>
                </a:solidFill>
              </a:defRPr>
            </a:pPr>
            <a:r>
              <a:t>Automated Response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544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Containment: NetworkPolicy, RBAC, scale, cordon, kill</a:t>
            </a:r>
          </a:p>
        </p:txBody>
      </p:sp>
      <p:sp>
        <p:nvSpPr>
          <p:cNvPr id="39" name="Oval 38"/>
          <p:cNvSpPr/>
          <p:nvPr/>
        </p:nvSpPr>
        <p:spPr>
          <a:xfrm>
            <a:off x="457200" y="5943600"/>
            <a:ext cx="411480" cy="41148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599440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2E8F0"/>
                </a:solidFill>
              </a:defRPr>
            </a:pPr>
            <a:r>
              <a:t>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" y="5969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94A3B8"/>
                </a:solidFill>
              </a:defRPr>
            </a:pPr>
            <a:r>
              <a:t>Cleanup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89120" y="5994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Destroy Lambda + Destroy All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